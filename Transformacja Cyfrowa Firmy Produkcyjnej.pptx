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Urbanist SemiBold"/>
      <p:regular r:id="rId23"/>
      <p:bold r:id="rId24"/>
      <p:italic r:id="rId25"/>
      <p:boldItalic r:id="rId26"/>
    </p:embeddedFont>
    <p:embeddedFont>
      <p:font typeface="Urbanist Medium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  <p:embeddedFont>
      <p:font typeface="Azeret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7146A4-DFCB-47AD-9361-FFD1608083F5}">
  <a:tblStyle styleId="{477146A4-DFCB-47AD-9361-FFD1608083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UrbanistSemiBold-bold.fntdata"/><Relationship Id="rId23" Type="http://schemas.openxmlformats.org/officeDocument/2006/relationships/font" Target="fonts/Urbanis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Italic.fntdata"/><Relationship Id="rId25" Type="http://schemas.openxmlformats.org/officeDocument/2006/relationships/font" Target="fonts/UrbanistSemiBold-italic.fntdata"/><Relationship Id="rId28" Type="http://schemas.openxmlformats.org/officeDocument/2006/relationships/font" Target="fonts/UrbanistMedium-bold.fntdata"/><Relationship Id="rId27" Type="http://schemas.openxmlformats.org/officeDocument/2006/relationships/font" Target="fonts/Urbanist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35" Type="http://schemas.openxmlformats.org/officeDocument/2006/relationships/font" Target="fonts/AzeretMono-regular.fntdata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37" Type="http://schemas.openxmlformats.org/officeDocument/2006/relationships/font" Target="fonts/AzeretMono-italic.fntdata"/><Relationship Id="rId14" Type="http://schemas.openxmlformats.org/officeDocument/2006/relationships/slide" Target="slides/slide8.xml"/><Relationship Id="rId36" Type="http://schemas.openxmlformats.org/officeDocument/2006/relationships/font" Target="fonts/AzeretMon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AzeretMono-boldItalic.fntdata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6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4786312"/>
            <a:ext cx="285750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1528762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1D1"/>
                </a:solidFill>
                <a:latin typeface="Lato"/>
                <a:ea typeface="Lato"/>
                <a:cs typeface="Lato"/>
                <a:sym typeface="Lato"/>
              </a:rPr>
              <a:t>PROPOZYCJA STRATEGICZNA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5276" y="1909762"/>
            <a:ext cx="11581447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TRANSFORMACJA CYFROWA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 PRODUKCJI TWORZYW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738562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Budowa zintegrowanego ekosystemu IT dla skalowalnego rozwoju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67250" y="5138737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Zespół Ekspertów ds. Cyfryzacji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05276" y="2438400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01. Analiza Stanu Obecnego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17567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Zrozumienie barier ograniczających potencjał rozwojowy firmy zatrudniającej 15 pracowników.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78843"/>
            <a:ext cx="52768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78843"/>
            <a:ext cx="52768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81025" y="5436393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*Dane na styczeń 202</a:t>
            </a:r>
            <a:r>
              <a:rPr i="1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15 pracowników, produkcja wg wzorców i pod indywidualne zamówienia.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23925" y="3245643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Infrastruktura IT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23925" y="3759993"/>
            <a:ext cx="4591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Brak zintegrowanego systemu ERP. Wykorzystanie rozproszonych narzędzi: e-mail, Excel, zewnętrzne aplikacje do faktur i logistyki bez wzajemnej komunikacji.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77025" y="3245643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Procesy i Ludzie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77025" y="3759993"/>
            <a:ext cx="4591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Manualne kopiowanie danych między systemami. Praca na współdzielonych arkuszach Excel grozi nadpisaniem danych i brakiem historii zmian.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255031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2550318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71525" y="928836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AUDYT OPERACYJNY: STAN "AS-IS"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09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009650" y="2464593"/>
            <a:ext cx="10601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Brak walidacji danych: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System delegowania zadań nie sprawdza poprawności wpisów, co generuje kosztowne błędy produkcyjne.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09650" y="3236118"/>
            <a:ext cx="10601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Ryzyko utraty integralności: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Praca na lokalnych zasobach uniemożliwia dostęp zdalny i grozi niepożądanym nadpisaniem krytycznych parametrów (twardość, wymiary).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009650" y="4045743"/>
            <a:ext cx="10601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Bariera integracji z dostawcami: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Brak interfejsu webowego (API) uniemożliwia automatyczne połączenie z nowoczesnymi dostawcami surowców.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09650" y="4855368"/>
            <a:ext cx="10601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Ograniczenia kadrowe: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Mało efektywny system zadań zniechęca nowych pracowników i utrudnia skalowanie zespołu.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738" y="24645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7421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83843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893468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71525" y="928836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IDENTYFIKACJA I OCENA RYZYK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59843"/>
            <a:ext cx="34861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59843"/>
            <a:ext cx="34861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559843"/>
            <a:ext cx="34861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923925" y="3626643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Ekspansja Globalna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23925" y="4140993"/>
            <a:ext cx="2800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Pełne wsparcie dla sprzedaży zagranicznej i wielojęzycznej strony internetowej.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95825" y="3626643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E-Commerce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695825" y="4140993"/>
            <a:ext cx="2800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Automatyczne przetwarzanie zamówień z planowanego sklepu internetowego.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467725" y="3626643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Automatyzacja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467725" y="4140993"/>
            <a:ext cx="2800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Eliminacja manualnego kopiowania danych między logistyką a księgowością.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93131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93131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2931318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71525" y="928836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CELE NOWEGO SYSTEMU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40743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81025" y="2407443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Zintegrowany System Chmurowy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81025" y="2921793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Wdrożenie nowoczesnej platformy łączącej produkcję, magazyn, sprzedaż i finanse w jednej bazie danych.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159793"/>
            <a:ext cx="52387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009650" y="3683793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Dostęp zdalny z dowolnego miejsca.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09650" y="4207668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Automatyczna walidacja parametrów produkcji.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09650" y="4731543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Otwarty interfejs dla dostawców i klientów.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2189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4576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69643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71525" y="928836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REKOMENDOWANE ROZWIĄZANIE: CLOUD ERP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581025" y="2845593"/>
            <a:ext cx="11029950" cy="2400300"/>
          </a:xfrm>
          <a:prstGeom prst="roundRect">
            <a:avLst>
              <a:gd fmla="val 0" name="adj"/>
            </a:avLst>
          </a:prstGeom>
          <a:solidFill>
            <a:srgbClr val="262626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9"/>
          <p:cNvGraphicFramePr/>
          <p:nvPr/>
        </p:nvGraphicFramePr>
        <p:xfrm>
          <a:off x="581025" y="28455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{477146A4-DFCB-47AD-9361-FFD1608083F5}</a:tableStyleId>
              </a:tblPr>
              <a:tblGrid>
                <a:gridCol w="1587550"/>
                <a:gridCol w="3444775"/>
                <a:gridCol w="2853325"/>
                <a:gridCol w="3144300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Kryterium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System Gotowy ("Pudełkowy")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Rozwiązanie Dedykowane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SaaS (Rekomendowane)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80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Dostosowanie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Niskie (brak kluczowych parametrów)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Pełne (wysoki koszt i czas)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Wysokie (konfigurowalne moduły)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Koszt wejścia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Niski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Bardzo wysoki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Średni (model subskrypcyjny)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Dostęp zdalny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Często brak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Zależnie od projektu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(Chmura)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19"/>
          <p:cNvSpPr/>
          <p:nvPr/>
        </p:nvSpPr>
        <p:spPr>
          <a:xfrm>
            <a:off x="581025" y="4040981"/>
            <a:ext cx="1587549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168574" y="4040981"/>
            <a:ext cx="3444775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613350" y="4040981"/>
            <a:ext cx="2853332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8466683" y="4040981"/>
            <a:ext cx="3144291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81025" y="4641056"/>
            <a:ext cx="1587549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168574" y="4641056"/>
            <a:ext cx="3444775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613350" y="4641056"/>
            <a:ext cx="2853332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8466683" y="4641056"/>
            <a:ext cx="3144291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771525" y="928836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WYBÓR ŚCIEŻKI: PORÓWNANIE ROZWIĄZAŃ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14661"/>
            <a:ext cx="53721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814661"/>
            <a:ext cx="53721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34011"/>
            <a:ext cx="53721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4234011"/>
            <a:ext cx="53721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923925" y="2424261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Mocne Strony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23925" y="2938611"/>
            <a:ext cx="4686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Eliminacja błędów ludzkich, jedna wersja prawdy o danych, gotowość na e-commerce.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581775" y="2424261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Słabe Strony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581775" y="2938611"/>
            <a:ext cx="4686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Konieczność przeszkolenia zespołu, czasowe obciążenie podczas wdrożenia.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923925" y="4843611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Szanse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23925" y="5357961"/>
            <a:ext cx="4686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Szybsza obsługa rynków zagranicznych, integracja cyfrowa z dostawcami surowców.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581775" y="4843611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Zagrożenia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581775" y="5357961"/>
            <a:ext cx="4686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Opór pracowników przed zmianą, ryzyko wyboru nieelastycznego dostawcy oprogramowania.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71525" y="928836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ANALIZA SWOT PROJEKTU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/>
          <p:nvPr/>
        </p:nvSpPr>
        <p:spPr>
          <a:xfrm>
            <a:off x="581025" y="4502943"/>
            <a:ext cx="11029950" cy="381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364158" y="3540918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FACC15"/>
          </a:solidFill>
          <a:ln cap="flat" cmpd="sng" w="762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31390" y="4226718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Miesiąc 1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81025" y="4741068"/>
            <a:ext cx="198536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Audyt procesów i wybór platformy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3625304" y="3540918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FACC15"/>
          </a:solidFill>
          <a:ln cap="flat" cmpd="sng" w="762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792536" y="4226718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Miesiąc 2-3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2842170" y="4741068"/>
            <a:ext cx="198536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Konfiguracja i migracja danych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886450" y="3540918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FACC15"/>
          </a:solidFill>
          <a:ln cap="flat" cmpd="sng" w="762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053682" y="4226718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Miesiąc 4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103316" y="4741068"/>
            <a:ext cx="19853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Szkolenia pracowników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8147595" y="3540918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FACC15"/>
          </a:solidFill>
          <a:ln cap="flat" cmpd="sng" w="762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7314827" y="4226718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Miesiąc 5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364462" y="4741068"/>
            <a:ext cx="198536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Start produkcyjny (Go-Live)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10408741" y="3540918"/>
            <a:ext cx="419100" cy="419100"/>
          </a:xfrm>
          <a:prstGeom prst="roundRect">
            <a:avLst>
              <a:gd fmla="val 50000" name="adj"/>
            </a:avLst>
          </a:prstGeom>
          <a:solidFill>
            <a:srgbClr val="FACC15"/>
          </a:solidFill>
          <a:ln cap="flat" cmpd="sng" w="762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9575973" y="4226718"/>
            <a:ext cx="20846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Miesiąc 6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625607" y="4741068"/>
            <a:ext cx="198536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Integracja ze sklepem online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771525" y="928836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HARMONOGRAM REALIZACJI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581025" y="4822031"/>
            <a:ext cx="11029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Automatyzacja obiegu dokumentów pozwoli na redukcję czasu pracy administracyjnej o 10h tygodniowo na osobę.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325463" y="2736056"/>
            <a:ext cx="22002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-85%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325463" y="3783806"/>
            <a:ext cx="2200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D1D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Błędów w danych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014763" y="2736056"/>
            <a:ext cx="232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+30%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014763" y="3783806"/>
            <a:ext cx="2324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D1D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Wydajności biurowej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827889" y="2736056"/>
            <a:ext cx="20383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24/7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827889" y="3783806"/>
            <a:ext cx="2038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D1D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Dostęp do raportów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71525" y="928836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SPODZIEWANE KORZYŚCI BIZNESOWE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771525" y="1097756"/>
            <a:ext cx="499062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D1D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SCENARIUSZ PRZYSZŁOŚCI</a:t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581025" y="1097756"/>
            <a:ext cx="76200" cy="10096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81025" y="2678906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Proces: Automatyczne zamówienie e-commerce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009650" y="3307556"/>
            <a:ext cx="4514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Klient zamawia detal przez sklep online.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009650" y="3831431"/>
            <a:ext cx="4514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System ERP automatycznie rezerwuje surowiec i tworzy zlecenie produkcji.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009650" y="4641056"/>
            <a:ext cx="4514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Faktura i list przewozowy generują się bez udziału człowieka.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009650" y="5450681"/>
            <a:ext cx="4514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Pracownik skupia się wyłącznie na jakości produktu.</a:t>
            </a:r>
            <a:endParaRPr/>
          </a:p>
        </p:txBody>
      </p:sp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4565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6953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67915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48878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8312" y="1080045"/>
            <a:ext cx="10953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3520678" y="2824162"/>
            <a:ext cx="5150643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Pytania i Dyskusja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2771775" y="4253954"/>
            <a:ext cx="6648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Dziękujemy za uwagę. Zapraszamy do rozmowy o przyszłości firmy.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4810125" y="5301704"/>
            <a:ext cx="2571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Wersja projektu: 1.0 | 202</a:t>
            </a:r>
            <a:r>
              <a:rPr lang="en-US" sz="1500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2</a:t>
            </a:r>
            <a:endParaRPr/>
          </a:p>
        </p:txBody>
      </p:sp>
      <p:pic>
        <p:nvPicPr>
          <p:cNvPr descr="image.png" id="263" name="Google Shape;2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8812" y="1270545"/>
            <a:ext cx="71437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