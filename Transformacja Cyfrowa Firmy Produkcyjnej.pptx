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Lato"/>
      <p:regular r:id="rId19"/>
      <p:bold r:id="rId20"/>
      <p:italic r:id="rId21"/>
      <p:boldItalic r:id="rId22"/>
    </p:embeddedFont>
    <p:embeddedFont>
      <p:font typeface="Urbanist SemiBold"/>
      <p:regular r:id="rId23"/>
      <p:bold r:id="rId24"/>
      <p:italic r:id="rId25"/>
      <p:boldItalic r:id="rId26"/>
    </p:embeddedFont>
    <p:embeddedFont>
      <p:font typeface="Urbanist Medium"/>
      <p:regular r:id="rId27"/>
      <p:bold r:id="rId28"/>
      <p:italic r:id="rId29"/>
      <p:boldItalic r:id="rId30"/>
    </p:embeddedFont>
    <p:embeddedFont>
      <p:font typeface="Urbanist"/>
      <p:regular r:id="rId31"/>
      <p:bold r:id="rId32"/>
      <p:italic r:id="rId33"/>
      <p:boldItalic r:id="rId34"/>
    </p:embeddedFont>
    <p:embeddedFont>
      <p:font typeface="Azeret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80A236-DDA1-4A20-92A3-BFF53B45E5C2}">
  <a:tblStyle styleId="{1480A236-DDA1-4A20-92A3-BFF53B45E5C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.fntdata"/><Relationship Id="rId22" Type="http://schemas.openxmlformats.org/officeDocument/2006/relationships/font" Target="fonts/Lato-boldItalic.fntdata"/><Relationship Id="rId21" Type="http://schemas.openxmlformats.org/officeDocument/2006/relationships/font" Target="fonts/Lato-italic.fntdata"/><Relationship Id="rId24" Type="http://schemas.openxmlformats.org/officeDocument/2006/relationships/font" Target="fonts/UrbanistSemiBold-bold.fntdata"/><Relationship Id="rId23" Type="http://schemas.openxmlformats.org/officeDocument/2006/relationships/font" Target="fonts/UrbanistSemiBo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UrbanistSemiBold-boldItalic.fntdata"/><Relationship Id="rId25" Type="http://schemas.openxmlformats.org/officeDocument/2006/relationships/font" Target="fonts/UrbanistSemiBold-italic.fntdata"/><Relationship Id="rId28" Type="http://schemas.openxmlformats.org/officeDocument/2006/relationships/font" Target="fonts/UrbanistMedium-bold.fntdata"/><Relationship Id="rId27" Type="http://schemas.openxmlformats.org/officeDocument/2006/relationships/font" Target="fonts/UrbanistMedium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UrbanistMedium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Urbanist-regular.fntdata"/><Relationship Id="rId30" Type="http://schemas.openxmlformats.org/officeDocument/2006/relationships/font" Target="fonts/UrbanistMedium-boldItalic.fntdata"/><Relationship Id="rId11" Type="http://schemas.openxmlformats.org/officeDocument/2006/relationships/slide" Target="slides/slide5.xml"/><Relationship Id="rId33" Type="http://schemas.openxmlformats.org/officeDocument/2006/relationships/font" Target="fonts/Urbanist-italic.fntdata"/><Relationship Id="rId10" Type="http://schemas.openxmlformats.org/officeDocument/2006/relationships/slide" Target="slides/slide4.xml"/><Relationship Id="rId32" Type="http://schemas.openxmlformats.org/officeDocument/2006/relationships/font" Target="fonts/Urbanist-bold.fntdata"/><Relationship Id="rId13" Type="http://schemas.openxmlformats.org/officeDocument/2006/relationships/slide" Target="slides/slide7.xml"/><Relationship Id="rId35" Type="http://schemas.openxmlformats.org/officeDocument/2006/relationships/font" Target="fonts/AzeretMono-regular.fntdata"/><Relationship Id="rId12" Type="http://schemas.openxmlformats.org/officeDocument/2006/relationships/slide" Target="slides/slide6.xml"/><Relationship Id="rId34" Type="http://schemas.openxmlformats.org/officeDocument/2006/relationships/font" Target="fonts/Urbanist-boldItalic.fntdata"/><Relationship Id="rId15" Type="http://schemas.openxmlformats.org/officeDocument/2006/relationships/slide" Target="slides/slide9.xml"/><Relationship Id="rId37" Type="http://schemas.openxmlformats.org/officeDocument/2006/relationships/font" Target="fonts/AzeretMono-italic.fntdata"/><Relationship Id="rId14" Type="http://schemas.openxmlformats.org/officeDocument/2006/relationships/slide" Target="slides/slide8.xml"/><Relationship Id="rId36" Type="http://schemas.openxmlformats.org/officeDocument/2006/relationships/font" Target="fonts/AzeretMono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38" Type="http://schemas.openxmlformats.org/officeDocument/2006/relationships/font" Target="fonts/AzeretMono-boldItalic.fntdata"/><Relationship Id="rId19" Type="http://schemas.openxmlformats.org/officeDocument/2006/relationships/font" Target="fonts/Lato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9.png"/><Relationship Id="rId7" Type="http://schemas.openxmlformats.org/officeDocument/2006/relationships/image" Target="../media/image20.png"/><Relationship Id="rId8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9.png"/><Relationship Id="rId5" Type="http://schemas.openxmlformats.org/officeDocument/2006/relationships/image" Target="../media/image23.png"/><Relationship Id="rId6" Type="http://schemas.openxmlformats.org/officeDocument/2006/relationships/image" Target="../media/image26.png"/><Relationship Id="rId7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67250" y="4786312"/>
            <a:ext cx="2857500" cy="7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581025" y="1528762"/>
            <a:ext cx="11029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D1D1"/>
                </a:solidFill>
                <a:latin typeface="Lato"/>
                <a:ea typeface="Lato"/>
                <a:cs typeface="Lato"/>
                <a:sym typeface="Lato"/>
              </a:rPr>
              <a:t>PROPOZYCJA STRATEGICZNA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05276" y="1909762"/>
            <a:ext cx="11581447" cy="16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TRANSFORMACJA CYFROWA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54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 PRODUKCJI TWORZYW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3738562"/>
            <a:ext cx="110299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Budowa zintegrowanego ekosystemu IT dla skalowalnego rozwoju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4667250" y="5138737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Zespół Ekspertów ds. Cyfryzacji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305276" y="2438400"/>
            <a:ext cx="11581447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01. Analiza Stanu Obecnego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2286000" y="4175670"/>
            <a:ext cx="762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Zrozumienie barier ograniczających potencjał rozwojowy firmy zatrudniającej 15 pracowników.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78843"/>
            <a:ext cx="5276850" cy="2971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178843"/>
            <a:ext cx="527685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581025" y="5436393"/>
            <a:ext cx="1103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*Dane na styczeń 202</a:t>
            </a:r>
            <a:r>
              <a:rPr i="1" lang="en-US" sz="15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r>
              <a:rPr b="0" i="1" lang="en-US" sz="15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: 15 pracowników, produkcja wg wzorców i pod indywidualne zamówienia.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923925" y="3245643"/>
            <a:ext cx="482060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Infrastruktura IT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923925" y="3759993"/>
            <a:ext cx="45910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Brak zintegrowanego systemu ERP. Wykorzystanie rozproszonych narzędzi: e-mail, Excel, zewnętrzne aplikacje do faktur i logistyki bez wzajemnej komunikacji.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6677025" y="3245643"/>
            <a:ext cx="482060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Procesy i Ludzie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677025" y="3759993"/>
            <a:ext cx="45910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Manualne kopiowanie danych między systemami. Praca na współdzielonych arkuszach Excel grozi nadpisaniem danych i brakiem historii zmian.</a:t>
            </a:r>
            <a:endParaRPr/>
          </a:p>
        </p:txBody>
      </p:sp>
      <p:pic>
        <p:nvPicPr>
          <p:cNvPr descr="image.png" id="109" name="Google Shape;10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3925" y="2550318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77025" y="2550318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AUDYT OPERACYJNY: STAN "AS-IS"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7" name="Google Shape;11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095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/>
        </p:nvSpPr>
        <p:spPr>
          <a:xfrm>
            <a:off x="1009650" y="2464593"/>
            <a:ext cx="106014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Brak walidacji danych: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System delegowania zadań nie sprawdza poprawności wpisów, co generuje kosztowne błędy produkcyjne.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1009650" y="3236118"/>
            <a:ext cx="1060132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Ryzyko utraty integralności: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Praca na lokalnych zasobach uniemożliwia dostęp zdalny i grozi niepożądanym nadpisaniem krytycznych parametrów (twardość, wymiary).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009650" y="4045743"/>
            <a:ext cx="1060132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Bariera integracji z dostawcami: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Brak interfejsu webowego (API) uniemożliwia automatyczne połączenie z nowoczesnymi dostawcami surowców.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1009650" y="4855368"/>
            <a:ext cx="106013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Ograniczenia kadrowe: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Mało efektywny system zadań zniechęca nowych pracowników i utrudnia skalowanie zespołu.</a:t>
            </a:r>
            <a:endParaRPr/>
          </a:p>
        </p:txBody>
      </p:sp>
      <p:pic>
        <p:nvPicPr>
          <p:cNvPr descr="image.png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6738" y="246459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274218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083843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893468"/>
            <a:ext cx="2857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IDENTYFIKACJA I OCENA RYZYK</a:t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2" name="Google Shape;13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59843"/>
            <a:ext cx="3486150" cy="2971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559843"/>
            <a:ext cx="3486150" cy="2971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559843"/>
            <a:ext cx="348615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923925" y="3626643"/>
            <a:ext cx="294036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Ekspansja Globalna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923925" y="4140993"/>
            <a:ext cx="28003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Pełne wsparcie dla sprzedaży zagranicznej i wielojęzycznej strony internetowej.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4695825" y="3626643"/>
            <a:ext cx="294036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E-Commerce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4695825" y="4140993"/>
            <a:ext cx="28003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Automatyczne przetwarzanie zamówień z planowanego sklepu internetowego.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8467725" y="3626643"/>
            <a:ext cx="294036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Automatyzacja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8467725" y="4140993"/>
            <a:ext cx="28003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Eliminacja manualnego kopiowania danych między logistyką a księgowością.</a:t>
            </a:r>
            <a:endParaRPr/>
          </a:p>
        </p:txBody>
      </p:sp>
      <p:pic>
        <p:nvPicPr>
          <p:cNvPr descr="image.png" id="142" name="Google Shape;142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2931318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95825" y="2931318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7725" y="293131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CELE NOWEGO SYSTEMU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1" name="Google Shape;1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140743"/>
            <a:ext cx="52768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81025" y="2407443"/>
            <a:ext cx="554069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Zintegrowany System Chmurowy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581025" y="2921793"/>
            <a:ext cx="52768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Wdrożenie nowoczesnej platformy łączącej produkcję, magazyn, sprzedaż i finanse w jednej bazie danych.</a:t>
            </a:r>
            <a:endParaRPr/>
          </a:p>
        </p:txBody>
      </p:sp>
      <p:pic>
        <p:nvPicPr>
          <p:cNvPr descr="image.png" id="155" name="Google Shape;155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3175" y="2159793"/>
            <a:ext cx="5238750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009650" y="3683793"/>
            <a:ext cx="48482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Dostęp zdalny z dowolnego miejsca.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1009650" y="4207668"/>
            <a:ext cx="48482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Automatyczna walidacja parametrów produkcji.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1009650" y="4731543"/>
            <a:ext cx="48482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Otwarty interfejs dla dostawców i klientów.</a:t>
            </a:r>
            <a:endParaRPr/>
          </a:p>
        </p:txBody>
      </p:sp>
      <p:pic>
        <p:nvPicPr>
          <p:cNvPr descr="image.png" id="159" name="Google Shape;159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721893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245768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769643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REKOMENDOWANE ROZWIĄZANIE: CLOUD ERP</a:t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8" name="Google Shape;16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/>
          <p:nvPr/>
        </p:nvSpPr>
        <p:spPr>
          <a:xfrm>
            <a:off x="581025" y="2845593"/>
            <a:ext cx="11029950" cy="2400300"/>
          </a:xfrm>
          <a:prstGeom prst="roundRect">
            <a:avLst>
              <a:gd fmla="val 0" name="adj"/>
            </a:avLst>
          </a:prstGeom>
          <a:solidFill>
            <a:srgbClr val="262626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0" name="Google Shape;170;p19"/>
          <p:cNvGraphicFramePr/>
          <p:nvPr/>
        </p:nvGraphicFramePr>
        <p:xfrm>
          <a:off x="581025" y="284559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{1480A236-DDA1-4A20-92A3-BFF53B45E5C2}</a:tableStyleId>
              </a:tblPr>
              <a:tblGrid>
                <a:gridCol w="1587550"/>
                <a:gridCol w="3444775"/>
                <a:gridCol w="2853325"/>
                <a:gridCol w="3144300"/>
              </a:tblGrid>
              <a:tr h="60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Kryterium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System Gotowy ("Pudełkowy")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Rozwiązanie Dedykowane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808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SaaS (Rekomendowane)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8080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Dostosowanie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Niskie (brak kluczowych parametrów)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Pełne (wysoki koszt i czas)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Wysokie (konfigurowalne moduły)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Koszt wejścia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Niski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Bardzo wysoki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Średni (model subskrypcyjny)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Dostęp zdalny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Często brak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Zależnie od projektu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chemeClr val="dk2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Standard (Chmura)</a:t>
                      </a:r>
                      <a:endParaRPr>
                        <a:solidFill>
                          <a:schemeClr val="dk2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1" name="Google Shape;171;p19"/>
          <p:cNvSpPr/>
          <p:nvPr/>
        </p:nvSpPr>
        <p:spPr>
          <a:xfrm>
            <a:off x="581025" y="4040981"/>
            <a:ext cx="1587549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2168574" y="4040981"/>
            <a:ext cx="3444775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5613350" y="4040981"/>
            <a:ext cx="2853332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8466683" y="4040981"/>
            <a:ext cx="3144291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581025" y="4641056"/>
            <a:ext cx="1587549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2168574" y="4641056"/>
            <a:ext cx="3444775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613350" y="4641056"/>
            <a:ext cx="2853332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8466683" y="4641056"/>
            <a:ext cx="3144291" cy="9525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WYBÓR ŚCIEŻKI: PORÓWNANIE ROZWIĄZAŃ</a:t>
            </a:r>
            <a:endParaRPr/>
          </a:p>
        </p:txBody>
      </p:sp>
      <p:sp>
        <p:nvSpPr>
          <p:cNvPr id="180" name="Google Shape;180;p19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5" name="Google Shape;18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814661"/>
            <a:ext cx="537210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1814661"/>
            <a:ext cx="537210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234011"/>
            <a:ext cx="537210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38875" y="4234011"/>
            <a:ext cx="5372100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923925" y="2424261"/>
            <a:ext cx="492061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Mocne Strony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923925" y="2938611"/>
            <a:ext cx="46863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Eliminacja błędów ludzkich, jedna wersja prawdy o danych, gotowość na e-commerce.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6581775" y="2424261"/>
            <a:ext cx="492061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87171"/>
                </a:solidFill>
                <a:latin typeface="Urbanist"/>
                <a:ea typeface="Urbanist"/>
                <a:cs typeface="Urbanist"/>
                <a:sym typeface="Urbanist"/>
              </a:rPr>
              <a:t>Słabe Strony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6581775" y="2938611"/>
            <a:ext cx="46863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Konieczność przeszkolenia zespołu, czasowe obciążenie podczas wdrożenia.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923925" y="4843611"/>
            <a:ext cx="492061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60A5FA"/>
                </a:solidFill>
                <a:latin typeface="Urbanist"/>
                <a:ea typeface="Urbanist"/>
                <a:cs typeface="Urbanist"/>
                <a:sym typeface="Urbanist"/>
              </a:rPr>
              <a:t>Szanse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923925" y="5357961"/>
            <a:ext cx="46863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Szybsza obsługa rynków zagranicznych, integracja cyfrowa z dostawcami surowców.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6581775" y="4843611"/>
            <a:ext cx="492061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Zagrożenia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6581775" y="5357961"/>
            <a:ext cx="46863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Opór pracowników przed zmianą, ryzyko wyboru nieelastycznego dostawcy oprogramowania.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ANALIZA SWOT PROJEKTU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4" name="Google Shape;20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/>
          <p:nvPr/>
        </p:nvSpPr>
        <p:spPr>
          <a:xfrm>
            <a:off x="581025" y="4502943"/>
            <a:ext cx="11029950" cy="381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1364158" y="3321093"/>
            <a:ext cx="419100" cy="419100"/>
          </a:xfrm>
          <a:prstGeom prst="roundRect">
            <a:avLst>
              <a:gd fmla="val 50000" name="adj"/>
            </a:avLst>
          </a:prstGeom>
          <a:solidFill>
            <a:srgbClr val="FACC15"/>
          </a:solidFill>
          <a:ln cap="flat" cmpd="sng" w="762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581015" y="3960018"/>
            <a:ext cx="208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Miesiąc 1</a:t>
            </a:r>
            <a:endParaRPr/>
          </a:p>
        </p:txBody>
      </p:sp>
      <p:sp>
        <p:nvSpPr>
          <p:cNvPr id="208" name="Google Shape;208;p21"/>
          <p:cNvSpPr txBox="1"/>
          <p:nvPr/>
        </p:nvSpPr>
        <p:spPr>
          <a:xfrm>
            <a:off x="581025" y="4741068"/>
            <a:ext cx="198536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Audyt procesów i wybór platformy</a:t>
            </a:r>
            <a:endParaRPr/>
          </a:p>
        </p:txBody>
      </p:sp>
      <p:sp>
        <p:nvSpPr>
          <p:cNvPr id="209" name="Google Shape;209;p21"/>
          <p:cNvSpPr/>
          <p:nvPr/>
        </p:nvSpPr>
        <p:spPr>
          <a:xfrm>
            <a:off x="3625304" y="3321093"/>
            <a:ext cx="419100" cy="419100"/>
          </a:xfrm>
          <a:prstGeom prst="roundRect">
            <a:avLst>
              <a:gd fmla="val 50000" name="adj"/>
            </a:avLst>
          </a:prstGeom>
          <a:solidFill>
            <a:srgbClr val="FACC15"/>
          </a:solidFill>
          <a:ln cap="flat" cmpd="sng" w="762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 txBox="1"/>
          <p:nvPr/>
        </p:nvSpPr>
        <p:spPr>
          <a:xfrm>
            <a:off x="2817386" y="3959643"/>
            <a:ext cx="208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Miesiąc 2-3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2842170" y="4741068"/>
            <a:ext cx="198536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Konfiguracja i migracja danych</a:t>
            </a:r>
            <a:endParaRPr/>
          </a:p>
        </p:txBody>
      </p:sp>
      <p:sp>
        <p:nvSpPr>
          <p:cNvPr id="212" name="Google Shape;212;p21"/>
          <p:cNvSpPr/>
          <p:nvPr/>
        </p:nvSpPr>
        <p:spPr>
          <a:xfrm>
            <a:off x="5886450" y="3321093"/>
            <a:ext cx="419100" cy="419100"/>
          </a:xfrm>
          <a:prstGeom prst="roundRect">
            <a:avLst>
              <a:gd fmla="val 50000" name="adj"/>
            </a:avLst>
          </a:prstGeom>
          <a:solidFill>
            <a:srgbClr val="FACC15"/>
          </a:solidFill>
          <a:ln cap="flat" cmpd="sng" w="762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5053732" y="3959643"/>
            <a:ext cx="208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Miesiąc 4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5103316" y="4741068"/>
            <a:ext cx="198536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Szkolenia pracowników</a:t>
            </a:r>
            <a:endParaRPr/>
          </a:p>
        </p:txBody>
      </p:sp>
      <p:sp>
        <p:nvSpPr>
          <p:cNvPr id="215" name="Google Shape;215;p21"/>
          <p:cNvSpPr/>
          <p:nvPr/>
        </p:nvSpPr>
        <p:spPr>
          <a:xfrm>
            <a:off x="8147595" y="3321093"/>
            <a:ext cx="419100" cy="419100"/>
          </a:xfrm>
          <a:prstGeom prst="roundRect">
            <a:avLst>
              <a:gd fmla="val 50000" name="adj"/>
            </a:avLst>
          </a:prstGeom>
          <a:solidFill>
            <a:srgbClr val="FACC15"/>
          </a:solidFill>
          <a:ln cap="flat" cmpd="sng" w="762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 txBox="1"/>
          <p:nvPr/>
        </p:nvSpPr>
        <p:spPr>
          <a:xfrm>
            <a:off x="7314877" y="3959643"/>
            <a:ext cx="208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Miesiąc 5</a:t>
            </a:r>
            <a:endParaRPr/>
          </a:p>
        </p:txBody>
      </p:sp>
      <p:sp>
        <p:nvSpPr>
          <p:cNvPr id="217" name="Google Shape;217;p21"/>
          <p:cNvSpPr txBox="1"/>
          <p:nvPr/>
        </p:nvSpPr>
        <p:spPr>
          <a:xfrm>
            <a:off x="7364462" y="4741068"/>
            <a:ext cx="198536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Start produkcyjny (Go-Live)</a:t>
            </a:r>
            <a:endParaRPr/>
          </a:p>
        </p:txBody>
      </p:sp>
      <p:sp>
        <p:nvSpPr>
          <p:cNvPr id="218" name="Google Shape;218;p21"/>
          <p:cNvSpPr/>
          <p:nvPr/>
        </p:nvSpPr>
        <p:spPr>
          <a:xfrm>
            <a:off x="10408741" y="3321093"/>
            <a:ext cx="419100" cy="419100"/>
          </a:xfrm>
          <a:prstGeom prst="roundRect">
            <a:avLst>
              <a:gd fmla="val 50000" name="adj"/>
            </a:avLst>
          </a:prstGeom>
          <a:solidFill>
            <a:srgbClr val="FACC15"/>
          </a:solidFill>
          <a:ln cap="flat" cmpd="sng" w="762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 txBox="1"/>
          <p:nvPr/>
        </p:nvSpPr>
        <p:spPr>
          <a:xfrm>
            <a:off x="9575948" y="3979068"/>
            <a:ext cx="208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Miesiąc 6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9625607" y="4741068"/>
            <a:ext cx="198536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Integracja ze sklepem online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HARMONOGRAM REALIZACJI</a:t>
            </a:r>
            <a:endParaRPr/>
          </a:p>
        </p:txBody>
      </p:sp>
      <p:sp>
        <p:nvSpPr>
          <p:cNvPr id="222" name="Google Shape;222;p21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7" name="Google Shape;22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2700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 txBox="1"/>
          <p:nvPr/>
        </p:nvSpPr>
        <p:spPr>
          <a:xfrm>
            <a:off x="581025" y="4990956"/>
            <a:ext cx="11030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Automatyzacja obiegu dokumentów pozwoli na redukcję czasu pracy administracyjnej o 10h tygodniowo na osobę.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1325463" y="2736056"/>
            <a:ext cx="2200275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-85%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1325463" y="3783806"/>
            <a:ext cx="22002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D1D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Błędów w danych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5014763" y="2736056"/>
            <a:ext cx="2324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+30%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5014763" y="3783806"/>
            <a:ext cx="2324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D1D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Wydajności biurowej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8827889" y="2736056"/>
            <a:ext cx="203835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FACC15"/>
                </a:solidFill>
                <a:latin typeface="Urbanist"/>
                <a:ea typeface="Urbanist"/>
                <a:cs typeface="Urbanist"/>
                <a:sym typeface="Urbanist"/>
              </a:rPr>
              <a:t>24/7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8827889" y="3783806"/>
            <a:ext cx="20383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D1D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Dostęp do raportów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771525" y="928836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SPODZIEWANE KORZYŚCI BIZNESOWE</a:t>
            </a:r>
            <a:endParaRPr/>
          </a:p>
        </p:txBody>
      </p:sp>
      <p:sp>
        <p:nvSpPr>
          <p:cNvPr id="236" name="Google Shape;236;p22"/>
          <p:cNvSpPr/>
          <p:nvPr/>
        </p:nvSpPr>
        <p:spPr>
          <a:xfrm>
            <a:off x="581025" y="928836"/>
            <a:ext cx="76200" cy="504825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3"/>
          <p:cNvSpPr txBox="1"/>
          <p:nvPr/>
        </p:nvSpPr>
        <p:spPr>
          <a:xfrm>
            <a:off x="771525" y="1097756"/>
            <a:ext cx="4990623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0D1D1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SCENARIUSZ PRZYSZŁOŚCI</a:t>
            </a:r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581025" y="1097756"/>
            <a:ext cx="76200" cy="1009650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581025" y="2678906"/>
            <a:ext cx="49434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Proces: Automatyczne zamówienie e-commerce</a:t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1009650" y="3307556"/>
            <a:ext cx="45148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Klient zamawia detal przez sklep online.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1009650" y="3831431"/>
            <a:ext cx="45148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System ERP automatycznie rezerwuje surowiec i tworzy zlecenie produkcji.</a:t>
            </a:r>
            <a:endParaRPr/>
          </a:p>
        </p:txBody>
      </p:sp>
      <p:sp>
        <p:nvSpPr>
          <p:cNvPr id="247" name="Google Shape;247;p23"/>
          <p:cNvSpPr txBox="1"/>
          <p:nvPr/>
        </p:nvSpPr>
        <p:spPr>
          <a:xfrm>
            <a:off x="1009650" y="4641056"/>
            <a:ext cx="45148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Faktura i list przewozowy generują się bez udziału człowieka.</a:t>
            </a:r>
            <a:endParaRPr/>
          </a:p>
        </p:txBody>
      </p:sp>
      <p:sp>
        <p:nvSpPr>
          <p:cNvPr id="248" name="Google Shape;248;p23"/>
          <p:cNvSpPr txBox="1"/>
          <p:nvPr/>
        </p:nvSpPr>
        <p:spPr>
          <a:xfrm>
            <a:off x="1009650" y="5450681"/>
            <a:ext cx="45148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Pracownik skupia się wyłącznie na jakości produktu.</a:t>
            </a:r>
            <a:endParaRPr/>
          </a:p>
        </p:txBody>
      </p:sp>
      <p:pic>
        <p:nvPicPr>
          <p:cNvPr descr="image.png" id="249" name="Google Shape;24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3345656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3869531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4679156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5488781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3" name="Google Shape;253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8" name="Google Shape;25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8312" y="1080045"/>
            <a:ext cx="1095375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4"/>
          <p:cNvSpPr txBox="1"/>
          <p:nvPr/>
        </p:nvSpPr>
        <p:spPr>
          <a:xfrm>
            <a:off x="3520678" y="2824162"/>
            <a:ext cx="5150643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Pytania i Dyskusja</a:t>
            </a:r>
            <a:endParaRPr/>
          </a:p>
        </p:txBody>
      </p:sp>
      <p:sp>
        <p:nvSpPr>
          <p:cNvPr id="261" name="Google Shape;261;p24"/>
          <p:cNvSpPr txBox="1"/>
          <p:nvPr/>
        </p:nvSpPr>
        <p:spPr>
          <a:xfrm>
            <a:off x="2771775" y="4253954"/>
            <a:ext cx="66484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Dziękujemy za uwagę. Zapraszamy do rozmowy o przyszłości firmy.</a:t>
            </a:r>
            <a:endParaRPr/>
          </a:p>
        </p:txBody>
      </p:sp>
      <p:sp>
        <p:nvSpPr>
          <p:cNvPr id="262" name="Google Shape;262;p24"/>
          <p:cNvSpPr txBox="1"/>
          <p:nvPr/>
        </p:nvSpPr>
        <p:spPr>
          <a:xfrm>
            <a:off x="4810125" y="5301704"/>
            <a:ext cx="25719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Azeret Mono"/>
                <a:ea typeface="Azeret Mono"/>
                <a:cs typeface="Azeret Mono"/>
                <a:sym typeface="Azeret Mono"/>
              </a:rPr>
              <a:t>Wersja projektu: 1.0 | 202</a:t>
            </a:r>
            <a:r>
              <a:rPr lang="en-US" sz="1500">
                <a:solidFill>
                  <a:srgbClr val="94A3B8"/>
                </a:solidFill>
                <a:latin typeface="Azeret Mono"/>
                <a:ea typeface="Azeret Mono"/>
                <a:cs typeface="Azeret Mono"/>
                <a:sym typeface="Azeret Mono"/>
              </a:rPr>
              <a:t>2</a:t>
            </a:r>
            <a:endParaRPr/>
          </a:p>
        </p:txBody>
      </p:sp>
      <p:pic>
        <p:nvPicPr>
          <p:cNvPr descr="image.png" id="263" name="Google Shape;263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38812" y="1270545"/>
            <a:ext cx="714375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